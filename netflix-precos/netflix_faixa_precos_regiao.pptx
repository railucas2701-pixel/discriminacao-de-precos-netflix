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ços por região" id="{3e9693ec-3725-9910-27d3-1a71114edee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58823529411764705"/>
          <c:y val="0"/>
          <c:w val="0.8823529411764706"/>
          <c:h val="0.929577464788732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Mínimo (invisível)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APAC</c:v>
                  </c:pt>
                  <c:pt idx="1">
                    <c:v>África</c:v>
                  </c:pt>
                  <c:pt idx="2">
                    <c:v>Oriente Médio</c:v>
                  </c:pt>
                  <c:pt idx="3">
                    <c:v>Europa</c:v>
                  </c:pt>
                  <c:pt idx="4">
                    <c:v>LATAM</c:v>
                  </c:pt>
                  <c:pt idx="5">
                    <c:v>UCAN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</c:v>
                </c:pt>
                <c:pt idx="1">
                  <c:v>1.54</c:v>
                </c:pt>
                <c:pt idx="2">
                  <c:v>3.99</c:v>
                </c:pt>
                <c:pt idx="3">
                  <c:v>5.27</c:v>
                </c:pt>
                <c:pt idx="4">
                  <c:v>3.99</c:v>
                </c:pt>
                <c:pt idx="5">
                  <c:v>5.61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Metade mais barata dos países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APAC</c:v>
                  </c:pt>
                  <c:pt idx="1">
                    <c:v>África</c:v>
                  </c:pt>
                  <c:pt idx="2">
                    <c:v>Oriente Médio</c:v>
                  </c:pt>
                  <c:pt idx="3">
                    <c:v>Europa</c:v>
                  </c:pt>
                  <c:pt idx="4">
                    <c:v>LATAM</c:v>
                  </c:pt>
                  <c:pt idx="5">
                    <c:v>UCAN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2.09</c:v>
                </c:pt>
                <c:pt idx="1">
                  <c:v>1.45</c:v>
                </c:pt>
                <c:pt idx="2">
                  <c:v>4</c:v>
                </c:pt>
                <c:pt idx="3">
                  <c:v>4.66</c:v>
                </c:pt>
                <c:pt idx="4">
                  <c:v>2</c:v>
                </c:pt>
                <c:pt idx="5">
                  <c:v>1.69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Metade mais cara dos países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APAC</c:v>
                  </c:pt>
                  <c:pt idx="1">
                    <c:v>África</c:v>
                  </c:pt>
                  <c:pt idx="2">
                    <c:v>Oriente Médio</c:v>
                  </c:pt>
                  <c:pt idx="3">
                    <c:v>Europa</c:v>
                  </c:pt>
                  <c:pt idx="4">
                    <c:v>LATAM</c:v>
                  </c:pt>
                  <c:pt idx="5">
                    <c:v>UCAN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9.49</c:v>
                </c:pt>
                <c:pt idx="1">
                  <c:v>1.53</c:v>
                </c:pt>
                <c:pt idx="2">
                  <c:v>2.75</c:v>
                </c:pt>
                <c:pt idx="3">
                  <c:v>8.01</c:v>
                </c:pt>
                <c:pt idx="4">
                  <c:v>6</c:v>
                </c:pt>
                <c:pt idx="5">
                  <c:v>1.69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Faixa = menor e maior preço do plano mais básico entre os países de cada região (só países, sem territórios); a troca de cor na barra é a mediana. Medianas: UCAN 7,30; LATAM 5,99; Europa 9,93; Oriente Médio 7,99; África 2,99; APAC 2,99 (US$/mês). Os mínimos de África (Quênia) e APAC (Paquistão) são planos Mobile, que só funcionam no celular; sem o Mobile, o mínimo da África é o Egito (US$ 2,10) e o de APAC continua o Paquistão (US$ 1,63, Básico). Regiões: África = continente inteiro; Europa inclui Turquia, Chipre e Cáucaso (classificação do Banco Mundial); Oriente Médio = países árabes da Ásia, Israel e Irã. A Netflix não publica a lista de países de cada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grafi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72200"/>
            <a:ext cx="112745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Netflix: faixa de preço do plano mais básico por região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Menor e maior preço entre os países de cada região, em US$ por mês (outubro de 2026)</a:t>
            </a:r>
            <a:endParaRPr lang="en-US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722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Fonte: Central de Ajuda da Netflix (help.netflix.com), preços coletados em 10/10/2026; câmbio do mesmo dia (open.er-api.com). Plano mais básico = o mais barato de cada país (Mobile, Básico ou Standard com anúncios). 192 países; territórios excluídos. Em alguns países o imposto é cobrado à parte.</a:t>
            </a:r>
            <a:endParaRPr lang="en-US" sz="1000" dirty="0"/>
          </a:p>
        </p:txBody>
      </p:sp>
      <p:sp>
        <p:nvSpPr>
          <p:cNvPr id="5" name="cab_regiao"/>
          <p:cNvSpPr txBox="1"/>
          <p:nvPr/>
        </p:nvSpPr>
        <p:spPr>
          <a:xfrm>
            <a:off x="45720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Região</a:t>
            </a:r>
            <a:endParaRPr lang="en-US" sz="1200" dirty="0"/>
          </a:p>
        </p:txBody>
      </p:sp>
      <p:sp>
        <p:nvSpPr>
          <p:cNvPr id="6" name="cab_paises"/>
          <p:cNvSpPr txBox="1"/>
          <p:nvPr/>
        </p:nvSpPr>
        <p:spPr>
          <a:xfrm>
            <a:off x="310896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Países</a:t>
            </a:r>
            <a:endParaRPr lang="en-US" sz="1200" dirty="0"/>
          </a:p>
        </p:txBody>
      </p:sp>
      <p:sp>
        <p:nvSpPr>
          <p:cNvPr id="7" name="cab_min"/>
          <p:cNvSpPr txBox="1"/>
          <p:nvPr/>
        </p:nvSpPr>
        <p:spPr>
          <a:xfrm>
            <a:off x="38404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Menor preço</a:t>
            </a:r>
            <a:endParaRPr lang="en-US" sz="1200" dirty="0"/>
          </a:p>
        </p:txBody>
      </p:sp>
      <p:sp>
        <p:nvSpPr>
          <p:cNvPr id="8" name="cab_faixa"/>
          <p:cNvSpPr txBox="1"/>
          <p:nvPr/>
        </p:nvSpPr>
        <p:spPr>
          <a:xfrm>
            <a:off x="6172200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Faixa de preço (US$/mês)</a:t>
            </a:r>
            <a:endParaRPr lang="en-US" sz="1200" dirty="0"/>
          </a:p>
        </p:txBody>
      </p:sp>
      <p:sp>
        <p:nvSpPr>
          <p:cNvPr id="9" name="cab_max"/>
          <p:cNvSpPr txBox="1"/>
          <p:nvPr/>
        </p:nvSpPr>
        <p:spPr>
          <a:xfrm>
            <a:off x="9829800" y="14173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Maior preço</a:t>
            </a:r>
            <a:endParaRPr lang="en-US" sz="1200" dirty="0"/>
          </a:p>
        </p:txBody>
      </p:sp>
      <p:sp>
        <p:nvSpPr>
          <p:cNvPr id="10" name="linha_cabecalho"/>
          <p:cNvSpPr/>
          <p:nvPr/>
        </p:nvSpPr>
        <p:spPr>
          <a:xfrm>
            <a:off x="457200" y="1755648"/>
            <a:ext cx="11274552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1" name="regiao_0"/>
          <p:cNvSpPr txBox="1"/>
          <p:nvPr/>
        </p:nvSpPr>
        <p:spPr>
          <a:xfrm>
            <a:off x="457200" y="18196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UCAN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EUA e Canadá</a:t>
            </a:r>
            <a:endParaRPr lang="en-US" sz="1700" dirty="0"/>
          </a:p>
        </p:txBody>
      </p:sp>
      <p:sp>
        <p:nvSpPr>
          <p:cNvPr id="12" name="paises_0"/>
          <p:cNvSpPr txBox="1"/>
          <p:nvPr/>
        </p:nvSpPr>
        <p:spPr>
          <a:xfrm>
            <a:off x="3108960" y="181965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min_0"/>
          <p:cNvSpPr txBox="1"/>
          <p:nvPr/>
        </p:nvSpPr>
        <p:spPr>
          <a:xfrm>
            <a:off x="3840480" y="18196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US$ 5,61</a:t>
            </a:r>
            <a:endParaRPr lang="en-US" sz="1700" dirty="0"/>
          </a:p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Canadá · Standard c/ anúncios</a:t>
            </a:r>
            <a:endParaRPr lang="en-US" sz="1700" dirty="0"/>
          </a:p>
        </p:txBody>
      </p:sp>
      <p:sp>
        <p:nvSpPr>
          <p:cNvPr id="14" name="max_0"/>
          <p:cNvSpPr txBox="1"/>
          <p:nvPr/>
        </p:nvSpPr>
        <p:spPr>
          <a:xfrm>
            <a:off x="9829800" y="181965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US$ 8,99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EUA · Standard c/ anúncios</a:t>
            </a:r>
            <a:endParaRPr lang="en-US" sz="1700" dirty="0"/>
          </a:p>
        </p:txBody>
      </p:sp>
      <p:sp>
        <p:nvSpPr>
          <p:cNvPr id="15" name="separador_1"/>
          <p:cNvSpPr/>
          <p:nvPr/>
        </p:nvSpPr>
        <p:spPr>
          <a:xfrm>
            <a:off x="457200" y="2386584"/>
            <a:ext cx="112745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regiao_1"/>
          <p:cNvSpPr txBox="1"/>
          <p:nvPr/>
        </p:nvSpPr>
        <p:spPr>
          <a:xfrm>
            <a:off x="457200" y="24231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LATAM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América Latina e Caribe</a:t>
            </a:r>
            <a:endParaRPr lang="en-US" sz="1700" dirty="0"/>
          </a:p>
        </p:txBody>
      </p:sp>
      <p:sp>
        <p:nvSpPr>
          <p:cNvPr id="17" name="paises_1"/>
          <p:cNvSpPr txBox="1"/>
          <p:nvPr/>
        </p:nvSpPr>
        <p:spPr>
          <a:xfrm>
            <a:off x="3108960" y="242316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33</a:t>
            </a:r>
            <a:endParaRPr lang="en-US" sz="1600" dirty="0"/>
          </a:p>
        </p:txBody>
      </p:sp>
      <p:sp>
        <p:nvSpPr>
          <p:cNvPr id="18" name="min_1"/>
          <p:cNvSpPr txBox="1"/>
          <p:nvPr/>
        </p:nvSpPr>
        <p:spPr>
          <a:xfrm>
            <a:off x="3840480" y="24231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US$ 3,99</a:t>
            </a:r>
            <a:endParaRPr lang="en-US" sz="1700" dirty="0"/>
          </a:p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Belize e mais 8 países · Básico</a:t>
            </a:r>
            <a:endParaRPr lang="en-US" sz="1700" dirty="0"/>
          </a:p>
        </p:txBody>
      </p:sp>
      <p:sp>
        <p:nvSpPr>
          <p:cNvPr id="19" name="max_1"/>
          <p:cNvSpPr txBox="1"/>
          <p:nvPr/>
        </p:nvSpPr>
        <p:spPr>
          <a:xfrm>
            <a:off x="9829800" y="242316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US$ 11,99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Uruguai e Trinidad e Tobago · Básico</a:t>
            </a:r>
            <a:endParaRPr lang="en-US" sz="1700" dirty="0"/>
          </a:p>
        </p:txBody>
      </p:sp>
      <p:sp>
        <p:nvSpPr>
          <p:cNvPr id="20" name="separador_2"/>
          <p:cNvSpPr/>
          <p:nvPr/>
        </p:nvSpPr>
        <p:spPr>
          <a:xfrm>
            <a:off x="457200" y="2990088"/>
            <a:ext cx="112745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1" name="regiao_2"/>
          <p:cNvSpPr txBox="1"/>
          <p:nvPr/>
        </p:nvSpPr>
        <p:spPr>
          <a:xfrm>
            <a:off x="457200" y="30266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Europa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Inclui Turquia, Chipre e Cáucaso</a:t>
            </a:r>
            <a:endParaRPr lang="en-US" sz="1700" dirty="0"/>
          </a:p>
        </p:txBody>
      </p:sp>
      <p:sp>
        <p:nvSpPr>
          <p:cNvPr id="22" name="paises_2"/>
          <p:cNvSpPr txBox="1"/>
          <p:nvPr/>
        </p:nvSpPr>
        <p:spPr>
          <a:xfrm>
            <a:off x="3108960" y="302666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48</a:t>
            </a:r>
            <a:endParaRPr lang="en-US" sz="1600" dirty="0"/>
          </a:p>
        </p:txBody>
      </p:sp>
      <p:sp>
        <p:nvSpPr>
          <p:cNvPr id="23" name="min_2"/>
          <p:cNvSpPr txBox="1"/>
          <p:nvPr/>
        </p:nvSpPr>
        <p:spPr>
          <a:xfrm>
            <a:off x="3840480" y="30266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US$ 5,27</a:t>
            </a:r>
            <a:endParaRPr lang="en-US" sz="1700" dirty="0"/>
          </a:p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Turquia · Básico</a:t>
            </a:r>
            <a:endParaRPr lang="en-US" sz="1700" dirty="0"/>
          </a:p>
        </p:txBody>
      </p:sp>
      <p:sp>
        <p:nvSpPr>
          <p:cNvPr id="24" name="max_2"/>
          <p:cNvSpPr txBox="1"/>
          <p:nvPr/>
        </p:nvSpPr>
        <p:spPr>
          <a:xfrm>
            <a:off x="9829800" y="302666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US$ 17,94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Suíça e Liechtenstein · Básico</a:t>
            </a:r>
            <a:endParaRPr lang="en-US" sz="1700" dirty="0"/>
          </a:p>
        </p:txBody>
      </p:sp>
      <p:sp>
        <p:nvSpPr>
          <p:cNvPr id="25" name="separador_3"/>
          <p:cNvSpPr/>
          <p:nvPr/>
        </p:nvSpPr>
        <p:spPr>
          <a:xfrm>
            <a:off x="457200" y="3593592"/>
            <a:ext cx="112745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6" name="regiao_3"/>
          <p:cNvSpPr txBox="1"/>
          <p:nvPr/>
        </p:nvSpPr>
        <p:spPr>
          <a:xfrm>
            <a:off x="457200" y="363016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Oriente Médio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Países árabes da Ásia, Israel e Irã</a:t>
            </a:r>
            <a:endParaRPr lang="en-US" sz="1700" dirty="0"/>
          </a:p>
        </p:txBody>
      </p:sp>
      <p:sp>
        <p:nvSpPr>
          <p:cNvPr id="27" name="paises_3"/>
          <p:cNvSpPr txBox="1"/>
          <p:nvPr/>
        </p:nvSpPr>
        <p:spPr>
          <a:xfrm>
            <a:off x="3108960" y="36301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13</a:t>
            </a:r>
            <a:endParaRPr lang="en-US" sz="1600" dirty="0"/>
          </a:p>
        </p:txBody>
      </p:sp>
      <p:sp>
        <p:nvSpPr>
          <p:cNvPr id="28" name="min_3"/>
          <p:cNvSpPr txBox="1"/>
          <p:nvPr/>
        </p:nvSpPr>
        <p:spPr>
          <a:xfrm>
            <a:off x="3840480" y="36301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US$ 3,99</a:t>
            </a:r>
            <a:endParaRPr lang="en-US" sz="1700" dirty="0"/>
          </a:p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Iraque, Irã e mais 4 países · Básico</a:t>
            </a:r>
            <a:endParaRPr lang="en-US" sz="1700" dirty="0"/>
          </a:p>
        </p:txBody>
      </p:sp>
      <p:sp>
        <p:nvSpPr>
          <p:cNvPr id="29" name="max_3"/>
          <p:cNvSpPr txBox="1"/>
          <p:nvPr/>
        </p:nvSpPr>
        <p:spPr>
          <a:xfrm>
            <a:off x="9829800" y="3630168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US$ 10,74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Israel · Básico</a:t>
            </a:r>
            <a:endParaRPr lang="en-US" sz="1700" dirty="0"/>
          </a:p>
        </p:txBody>
      </p:sp>
      <p:sp>
        <p:nvSpPr>
          <p:cNvPr id="30" name="separador_4"/>
          <p:cNvSpPr/>
          <p:nvPr/>
        </p:nvSpPr>
        <p:spPr>
          <a:xfrm>
            <a:off x="457200" y="4197096"/>
            <a:ext cx="112745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1" name="regiao_4"/>
          <p:cNvSpPr txBox="1"/>
          <p:nvPr/>
        </p:nvSpPr>
        <p:spPr>
          <a:xfrm>
            <a:off x="457200" y="42336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África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Continente inteiro</a:t>
            </a:r>
            <a:endParaRPr lang="en-US" sz="1700" dirty="0"/>
          </a:p>
        </p:txBody>
      </p:sp>
      <p:sp>
        <p:nvSpPr>
          <p:cNvPr id="32" name="paises_4"/>
          <p:cNvSpPr txBox="1"/>
          <p:nvPr/>
        </p:nvSpPr>
        <p:spPr>
          <a:xfrm>
            <a:off x="3108960" y="42336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54</a:t>
            </a:r>
            <a:endParaRPr lang="en-US" sz="1600" dirty="0"/>
          </a:p>
        </p:txBody>
      </p:sp>
      <p:sp>
        <p:nvSpPr>
          <p:cNvPr id="33" name="min_4"/>
          <p:cNvSpPr txBox="1"/>
          <p:nvPr/>
        </p:nvSpPr>
        <p:spPr>
          <a:xfrm>
            <a:off x="3840480" y="42336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US$ 1,54</a:t>
            </a:r>
            <a:endParaRPr lang="en-US" sz="1700" dirty="0"/>
          </a:p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Quênia · Mobile</a:t>
            </a:r>
            <a:endParaRPr lang="en-US" sz="1700" dirty="0"/>
          </a:p>
        </p:txBody>
      </p:sp>
      <p:sp>
        <p:nvSpPr>
          <p:cNvPr id="34" name="max_4"/>
          <p:cNvSpPr txBox="1"/>
          <p:nvPr/>
        </p:nvSpPr>
        <p:spPr>
          <a:xfrm>
            <a:off x="9829800" y="423367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US$ 4,52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Marrocos · Básico</a:t>
            </a:r>
            <a:endParaRPr lang="en-US" sz="1700" dirty="0"/>
          </a:p>
        </p:txBody>
      </p:sp>
      <p:sp>
        <p:nvSpPr>
          <p:cNvPr id="35" name="separador_5"/>
          <p:cNvSpPr/>
          <p:nvPr/>
        </p:nvSpPr>
        <p:spPr>
          <a:xfrm>
            <a:off x="457200" y="4800600"/>
            <a:ext cx="1127455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regiao_5"/>
          <p:cNvSpPr txBox="1"/>
          <p:nvPr/>
        </p:nvSpPr>
        <p:spPr>
          <a:xfrm>
            <a:off x="457200" y="483717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APAC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Ásia-Pacífico</a:t>
            </a:r>
            <a:endParaRPr lang="en-US" sz="1700" dirty="0"/>
          </a:p>
        </p:txBody>
      </p:sp>
      <p:sp>
        <p:nvSpPr>
          <p:cNvPr id="37" name="paises_5"/>
          <p:cNvSpPr txBox="1"/>
          <p:nvPr/>
        </p:nvSpPr>
        <p:spPr>
          <a:xfrm>
            <a:off x="3108960" y="48371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42</a:t>
            </a:r>
            <a:endParaRPr lang="en-US" sz="1600" dirty="0"/>
          </a:p>
        </p:txBody>
      </p:sp>
      <p:sp>
        <p:nvSpPr>
          <p:cNvPr id="38" name="min_5"/>
          <p:cNvSpPr txBox="1"/>
          <p:nvPr/>
        </p:nvSpPr>
        <p:spPr>
          <a:xfrm>
            <a:off x="3840480" y="483717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US$ 0,90</a:t>
            </a:r>
            <a:endParaRPr lang="en-US" sz="1700" dirty="0"/>
          </a:p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Paquistão · Mobile</a:t>
            </a:r>
            <a:endParaRPr lang="en-US" sz="1700" dirty="0"/>
          </a:p>
        </p:txBody>
      </p:sp>
      <p:sp>
        <p:nvSpPr>
          <p:cNvPr id="39" name="max_5"/>
          <p:cNvSpPr txBox="1"/>
          <p:nvPr/>
        </p:nvSpPr>
        <p:spPr>
          <a:xfrm>
            <a:off x="9829800" y="483717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US$ 12,48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Singapura · Básico</a:t>
            </a:r>
            <a:endParaRPr lang="en-US" sz="1700" dirty="0"/>
          </a:p>
        </p:txBody>
      </p:sp>
      <p:graphicFrame>
        <p:nvGraphicFramePr>
          <p:cNvPr id="40" name="grafico_faixa" descr=""/>
          <p:cNvGraphicFramePr/>
          <p:nvPr/>
        </p:nvGraphicFramePr>
        <p:xfrm>
          <a:off x="5943600" y="1783080"/>
          <a:ext cx="3886200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legenda_cor_0"/>
          <p:cNvSpPr/>
          <p:nvPr/>
        </p:nvSpPr>
        <p:spPr>
          <a:xfrm>
            <a:off x="5623560" y="5769864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2" name="legenda_txt_0"/>
          <p:cNvSpPr txBox="1"/>
          <p:nvPr/>
        </p:nvSpPr>
        <p:spPr>
          <a:xfrm>
            <a:off x="5824728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Metade mais barata dos países</a:t>
            </a:r>
            <a:endParaRPr lang="en-US" sz="1000" dirty="0"/>
          </a:p>
        </p:txBody>
      </p:sp>
      <p:sp>
        <p:nvSpPr>
          <p:cNvPr id="43" name="legenda_cor_1"/>
          <p:cNvSpPr/>
          <p:nvPr/>
        </p:nvSpPr>
        <p:spPr>
          <a:xfrm>
            <a:off x="7772400" y="5769864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legenda_txt_1"/>
          <p:cNvSpPr txBox="1"/>
          <p:nvPr/>
        </p:nvSpPr>
        <p:spPr>
          <a:xfrm>
            <a:off x="7973568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Metade mais cara dos países</a:t>
            </a:r>
            <a:endParaRPr lang="en-US" sz="1000" dirty="0"/>
          </a:p>
        </p:txBody>
      </p:sp>
      <p:sp>
        <p:nvSpPr>
          <p:cNvPr id="45" name="legenda_mediana"/>
          <p:cNvSpPr txBox="1"/>
          <p:nvPr/>
        </p:nvSpPr>
        <p:spPr>
          <a:xfrm>
            <a:off x="9921240" y="5724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 troca de cor marca a mediana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flix precos">
  <a:themeElements>
    <a:clrScheme name="Netflix precos">
      <a:dk1>
        <a:srgbClr val="0B0B0B"/>
      </a:dk1>
      <a:lt1>
        <a:srgbClr val="FFFFFF"/>
      </a:lt1>
      <a:dk2>
        <a:srgbClr val="52514E"/>
      </a:dk2>
      <a:lt2>
        <a:srgbClr val="F0EFEC"/>
      </a:lt2>
      <a:accent1>
        <a:srgbClr val="2A78D6"/>
      </a:accent1>
      <a:accent2>
        <a:srgbClr val="86B6EF"/>
      </a:accent2>
      <a:accent3>
        <a:srgbClr val="898781"/>
      </a:accent3>
      <a:accent4>
        <a:srgbClr val="E1E0D9"/>
      </a:accent4>
      <a:accent5>
        <a:srgbClr val="EB6834"/>
      </a:accent5>
      <a:accent6>
        <a:srgbClr val="1BAF7A"/>
      </a:accent6>
      <a:hlink>
        <a:srgbClr val="2A78D6"/>
      </a:hlink>
      <a:folHlink>
        <a:srgbClr val="6250D6"/>
      </a:folHlink>
    </a:clrScheme>
    <a:fontScheme name="Netflix prec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Netflix: faixa de preço por região</dc:title>
  <dc:subject>PptxGenJS Presentation</dc:subject>
  <dc:creator>PptxGenJS</dc:creator>
  <cp:lastModifiedBy>PptxGenJS</cp:lastModifiedBy>
  <cp:revision>1</cp:revision>
  <dcterms:created xsi:type="dcterms:W3CDTF">2026-10-14T01:49:14Z</dcterms:created>
  <dcterms:modified xsi:type="dcterms:W3CDTF">2026-10-14T01:49:15Z</dcterms:modified>
</cp:coreProperties>
</file>